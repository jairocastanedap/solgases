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3687cfa1-bad1-71f4-ba64-f558b5cefe68}">
          <p14:sldIdLst>
            <p14:sldId id="256"/>
            <p14:sldId id="257"/>
            <p14:sldId id="258"/>
            <p14:sldId id="259"/>
          </p14:sldIdLst>
        </p14:section>
        <p14:section name="Solución" id="{6aa41712-33b4-8897-41dc-3273637e625c}">
          <p14:sldIdLst>
            <p14:sldId id="260"/>
            <p14:sldId id="261"/>
          </p14:sldIdLst>
        </p14:section>
        <p14:section name="Arquitectura" id="{af7a3fb7-26c2-8bcb-6400-0aeae440e3d1}">
          <p14:sldIdLst>
            <p14:sldId id="262"/>
            <p14:sldId id="263"/>
            <p14:sldId id="264"/>
            <p14:sldId id="265"/>
          </p14:sldIdLst>
        </p14:section>
        <p14:section name="Seguridad" id="{8c4794f8-f477-8c0d-e41c-dc7cb9fe1fc5}">
          <p14:sldIdLst>
            <p14:sldId id="266"/>
            <p14:sldId id="267"/>
          </p14:sldIdLst>
        </p14:section>
        <p14:section name="Calidad y entrega" id="{c73f470c-c130-a984-0496-1465d45978cd}">
          <p14:sldIdLst>
            <p14:sldId id="268"/>
            <p14:sldId id="269"/>
            <p14:sldId id="270"/>
          </p14:sldIdLst>
        </p14:section>
        <p14:section name="Cierre" id="{31292558-21ce-6b1d-1f15-c7078ff11e8a}">
          <p14:sldIdLst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6323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6323F"/>
                </a:solidFill>
                <a:latin typeface="+mn-lt"/>
              </a:rPr>
              <a:t>Pruebas por módulo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Pruebas</c:v>
                </c:pt>
              </c:strCache>
            </c:strRef>
          </c:tx>
          <c:spPr>
            <a:solidFill>
              <a:srgbClr val="2F6F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6323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domain</c:v>
                  </c:pt>
                  <c:pt idx="1">
                    <c:v>application</c:v>
                  </c:pt>
                  <c:pt idx="2">
                    <c:v>infrastructure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</c:v>
                </c:pt>
                <c:pt idx="1">
                  <c:v>107</c:v>
                </c:pt>
                <c:pt idx="2">
                  <c:v>350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6323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8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D5DB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8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MVP 1 de SOLGASES APP: un backend Java para gestionar catálogo, inventario, usuarios, roles y permisos de una empresa de seguridad industrial.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 tomado del análisis de requerimientos (docs/analisis_requerimientos_solgases.md).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Conteos obtenidos del código fuente: 39 operaciones en 8 controladores (38 protegidas por la matriz más POST /api/auth/token), 43 servicios de caso de uso y 10 clases en domain/model.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Aclarar en la exposición que la regla de inventario negativo está implementada, pero mvp1.md la sigue marcando como pendiente de validar con el negocio.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468 pruebas: suma de los reportes Surefire presentes en target (11 domain, 107 application, 350 infrastructure), coherente con el último 'mvn -B clean verify' documentado en mvp1.md. La cobertura de 93,9 % es la línea base medida el 2026-10-07 con 285 pruebas; conviene regenerar el reporte JaCoCo antes de exponerla como cifra vigente.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515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SOLGASES APP · MVP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SOLGASES APP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3"/>
                </a:solidFill>
              </a:rPr>
              <a:t>Backend de gestión de catálogo, inventario y accesos — MVP 1</a:t>
            </a:r>
            <a:endParaRPr lang="en-US" sz="2200" dirty="0"/>
          </a:p>
        </p:txBody>
      </p:sp>
      <p:sp>
        <p:nvSpPr>
          <p:cNvPr id="4" name="Extinguisher circle"/>
          <p:cNvSpPr/>
          <p:nvPr/>
        </p:nvSpPr>
        <p:spPr>
          <a:xfrm>
            <a:off x="731520" y="82296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Extinguisher icon" descr="Extinguish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0515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5120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Curso Desarrollo de Software Asistido por IA con Java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Jairo Castañeda · Octubre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Seguridad industrial en Sogamoso, Boyacá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SOLGASES necesita una plataforma que apoye su operación y, más adelante, la atención a clientes.</a:t>
            </a:r>
            <a:endParaRPr lang="en-US" sz="1800" dirty="0"/>
          </a:p>
        </p:txBody>
      </p:sp>
      <p:sp>
        <p:nvSpPr>
          <p:cNvPr id="4" name="Business line 1"/>
          <p:cNvSpPr/>
          <p:nvPr/>
        </p:nvSpPr>
        <p:spPr>
          <a:xfrm>
            <a:off x="548640" y="2194560"/>
            <a:ext cx="2542032" cy="3291840"/>
          </a:xfrm>
          <a:prstGeom prst="roundRect">
            <a:avLst>
              <a:gd name="adj" fmla="val 2878"/>
            </a:avLst>
          </a:prstGeom>
          <a:solidFill>
            <a:schemeClr val="bg2"/>
          </a:solidFill>
          <a:ln/>
        </p:spPr>
      </p:sp>
      <p:sp>
        <p:nvSpPr>
          <p:cNvPr id="5" name="Elementos de protección personal circle"/>
          <p:cNvSpPr/>
          <p:nvPr/>
        </p:nvSpPr>
        <p:spPr>
          <a:xfrm>
            <a:off x="1417320" y="25146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Elementos de protección personal icon" descr="Elementos de protección person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060" y="27203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566160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Elementos de protección personal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434840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Comercialización de EPP para empresas</a:t>
            </a:r>
            <a:endParaRPr lang="en-US" sz="1400" dirty="0"/>
          </a:p>
        </p:txBody>
      </p:sp>
      <p:sp>
        <p:nvSpPr>
          <p:cNvPr id="9" name="Business line 2"/>
          <p:cNvSpPr/>
          <p:nvPr/>
        </p:nvSpPr>
        <p:spPr>
          <a:xfrm>
            <a:off x="3364992" y="2194560"/>
            <a:ext cx="2542032" cy="3291840"/>
          </a:xfrm>
          <a:prstGeom prst="roundRect">
            <a:avLst>
              <a:gd name="adj" fmla="val 2878"/>
            </a:avLst>
          </a:prstGeom>
          <a:solidFill>
            <a:schemeClr val="bg2"/>
          </a:solidFill>
          <a:ln/>
        </p:spPr>
      </p:sp>
      <p:sp>
        <p:nvSpPr>
          <p:cNvPr id="10" name="Recarga de extintores circle"/>
          <p:cNvSpPr/>
          <p:nvPr/>
        </p:nvSpPr>
        <p:spPr>
          <a:xfrm>
            <a:off x="4233672" y="251460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Recarga de extintores icon" descr="Recarga de extintor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412" y="27203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93592" y="3566160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Recarga de extintores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593592" y="4434840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Servicio de mantenimiento y recarga</a:t>
            </a:r>
            <a:endParaRPr lang="en-US" sz="1400" dirty="0"/>
          </a:p>
        </p:txBody>
      </p:sp>
      <p:sp>
        <p:nvSpPr>
          <p:cNvPr id="14" name="Business line 3"/>
          <p:cNvSpPr/>
          <p:nvPr/>
        </p:nvSpPr>
        <p:spPr>
          <a:xfrm>
            <a:off x="6181344" y="2194560"/>
            <a:ext cx="2542032" cy="3291840"/>
          </a:xfrm>
          <a:prstGeom prst="roundRect">
            <a:avLst>
              <a:gd name="adj" fmla="val 2878"/>
            </a:avLst>
          </a:prstGeom>
          <a:solidFill>
            <a:schemeClr val="bg2"/>
          </a:solidFill>
          <a:ln/>
        </p:spPr>
      </p:sp>
      <p:sp>
        <p:nvSpPr>
          <p:cNvPr id="15" name="Equipos de soldadura circle"/>
          <p:cNvSpPr/>
          <p:nvPr/>
        </p:nvSpPr>
        <p:spPr>
          <a:xfrm>
            <a:off x="7050024" y="25146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Equipos de soldadura icon" descr="Equipos de soldadur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5764" y="272034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09944" y="3566160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Equipos de soldadura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409944" y="4434840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Reparación de equipos</a:t>
            </a:r>
            <a:endParaRPr lang="en-US" sz="1400" dirty="0"/>
          </a:p>
        </p:txBody>
      </p:sp>
      <p:sp>
        <p:nvSpPr>
          <p:cNvPr id="19" name="Business line 4"/>
          <p:cNvSpPr/>
          <p:nvPr/>
        </p:nvSpPr>
        <p:spPr>
          <a:xfrm>
            <a:off x="8997696" y="2194560"/>
            <a:ext cx="2542032" cy="3291840"/>
          </a:xfrm>
          <a:prstGeom prst="roundRect">
            <a:avLst>
              <a:gd name="adj" fmla="val 2878"/>
            </a:avLst>
          </a:prstGeom>
          <a:solidFill>
            <a:schemeClr val="bg2"/>
          </a:solidFill>
          <a:ln/>
        </p:spPr>
      </p:sp>
      <p:sp>
        <p:nvSpPr>
          <p:cNvPr id="20" name="Gases industriales circle"/>
          <p:cNvSpPr/>
          <p:nvPr/>
        </p:nvSpPr>
        <p:spPr>
          <a:xfrm>
            <a:off x="9866376" y="251460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Gases industriales icon" descr="Gases industrial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2116" y="272034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26296" y="3566160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Gases industriales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9226296" y="4434840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Oxígeno, acetileno y otros gases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Objetivo y actores</a:t>
            </a:r>
            <a:endParaRPr lang="en-US" sz="3600" dirty="0"/>
          </a:p>
        </p:txBody>
      </p:sp>
      <p:sp>
        <p:nvSpPr>
          <p:cNvPr id="3" name="Objective card"/>
          <p:cNvSpPr/>
          <p:nvPr/>
        </p:nvSpPr>
        <p:spPr>
          <a:xfrm>
            <a:off x="548640" y="1463040"/>
            <a:ext cx="5486400" cy="4480560"/>
          </a:xfrm>
          <a:prstGeom prst="roundRect">
            <a:avLst>
              <a:gd name="adj" fmla="val 1633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general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7744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Gestionar el catálogo e inventario de productos y servicios, administrar usuarios y roles, exponer APIs REST y preparar la plataforma para un chatbot de recomendaciones e integración con WhatsApp.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50292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MVP 1 = solo backend, sin interfaz web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4630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Actores</a:t>
            </a:r>
            <a:endParaRPr lang="en-US" sz="2000" dirty="0"/>
          </a:p>
        </p:txBody>
      </p:sp>
      <p:sp>
        <p:nvSpPr>
          <p:cNvPr id="8" name="Administrador circle"/>
          <p:cNvSpPr/>
          <p:nvPr/>
        </p:nvSpPr>
        <p:spPr>
          <a:xfrm>
            <a:off x="6492240" y="20574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Administrador icon" descr="Administrad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2260" y="221742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315200" y="20391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Administrador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315200" y="2377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Gestiona datos maestros, usuarios, roles e inventario</a:t>
            </a:r>
            <a:endParaRPr lang="en-US" sz="1400" dirty="0"/>
          </a:p>
        </p:txBody>
      </p:sp>
      <p:sp>
        <p:nvSpPr>
          <p:cNvPr id="12" name="Usuario interno circle"/>
          <p:cNvSpPr/>
          <p:nvPr/>
        </p:nvSpPr>
        <p:spPr>
          <a:xfrm>
            <a:off x="6492240" y="3035808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Usuario interno icon" descr="Usuario intern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260" y="3195828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315200" y="30175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Usuario interno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315200" y="33558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Usa las funciones que su rol autoriza</a:t>
            </a:r>
            <a:endParaRPr lang="en-US" sz="1400" dirty="0"/>
          </a:p>
        </p:txBody>
      </p:sp>
      <p:sp>
        <p:nvSpPr>
          <p:cNvPr id="16" name="Cliente circle"/>
          <p:cNvSpPr/>
          <p:nvPr/>
        </p:nvSpPr>
        <p:spPr>
          <a:xfrm>
            <a:off x="6492240" y="4014216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7" name="Cliente icon" descr="Clien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260" y="4174236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15200" y="399592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Cliente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7315200" y="433425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Consulta productos (fases posteriores)</a:t>
            </a:r>
            <a:endParaRPr lang="en-US" sz="1400" dirty="0"/>
          </a:p>
        </p:txBody>
      </p:sp>
      <p:sp>
        <p:nvSpPr>
          <p:cNvPr id="20" name="Servicios externos circle"/>
          <p:cNvSpPr/>
          <p:nvPr/>
        </p:nvSpPr>
        <p:spPr>
          <a:xfrm>
            <a:off x="6492240" y="4992624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1" name="Servicios externos icon" descr="Servicios externo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2260" y="5152644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0" y="497433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Servicios externos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315200" y="531266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WhatsApp e IA para chatbot (pendiente)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Roadmap: siete MVPs, empezando por el backend</a:t>
            </a:r>
            <a:endParaRPr lang="en-US" sz="3600" dirty="0"/>
          </a:p>
        </p:txBody>
      </p:sp>
      <p:sp>
        <p:nvSpPr>
          <p:cNvPr id="3" name="Timeline"/>
          <p:cNvSpPr/>
          <p:nvPr/>
        </p:nvSpPr>
        <p:spPr>
          <a:xfrm>
            <a:off x="914400" y="3017520"/>
            <a:ext cx="10332720" cy="0"/>
          </a:xfrm>
          <a:prstGeom prst="line">
            <a:avLst/>
          </a:prstGeom>
          <a:noFill/>
          <a:ln w="38100">
            <a:solidFill>
              <a:srgbClr val="D5DBE2"/>
            </a:solidFill>
            <a:prstDash val="solid"/>
          </a:ln>
        </p:spPr>
      </p:sp>
      <p:sp>
        <p:nvSpPr>
          <p:cNvPr id="4" name="MVP 1 dot"/>
          <p:cNvSpPr/>
          <p:nvPr/>
        </p:nvSpPr>
        <p:spPr>
          <a:xfrm>
            <a:off x="1005840" y="2697480"/>
            <a:ext cx="640080" cy="64008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E457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MVP 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3931920"/>
            <a:ext cx="15910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Backend de catálogo e inventario</a:t>
            </a:r>
            <a:endParaRPr lang="en-US" sz="1300" dirty="0"/>
          </a:p>
        </p:txBody>
      </p:sp>
      <p:sp>
        <p:nvSpPr>
          <p:cNvPr id="8" name="MVP 2 dot"/>
          <p:cNvSpPr/>
          <p:nvPr/>
        </p:nvSpPr>
        <p:spPr>
          <a:xfrm>
            <a:off x="2606040" y="2697480"/>
            <a:ext cx="640080" cy="640080"/>
          </a:xfrm>
          <a:prstGeom prst="ellipse">
            <a:avLst/>
          </a:prstGeom>
          <a:solidFill>
            <a:schemeClr val="bg2"/>
          </a:solidFill>
          <a:ln w="25400">
            <a:solidFill>
              <a:srgbClr val="D5DB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0604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148840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MVP 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130552" y="3931920"/>
            <a:ext cx="15910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Frontend administrativo</a:t>
            </a:r>
            <a:endParaRPr lang="en-US" sz="1300" dirty="0"/>
          </a:p>
        </p:txBody>
      </p:sp>
      <p:sp>
        <p:nvSpPr>
          <p:cNvPr id="12" name="MVP 3 dot"/>
          <p:cNvSpPr/>
          <p:nvPr/>
        </p:nvSpPr>
        <p:spPr>
          <a:xfrm>
            <a:off x="4206240" y="2697480"/>
            <a:ext cx="640080" cy="640080"/>
          </a:xfrm>
          <a:prstGeom prst="ellipse">
            <a:avLst/>
          </a:prstGeom>
          <a:solidFill>
            <a:schemeClr val="bg2"/>
          </a:solidFill>
          <a:ln w="25400">
            <a:solidFill>
              <a:srgbClr val="D5DB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0624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MVP 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730752" y="3931920"/>
            <a:ext cx="15910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Catálogo público para clientes</a:t>
            </a:r>
            <a:endParaRPr lang="en-US" sz="1300" dirty="0"/>
          </a:p>
        </p:txBody>
      </p:sp>
      <p:sp>
        <p:nvSpPr>
          <p:cNvPr id="16" name="MVP 4 dot"/>
          <p:cNvSpPr/>
          <p:nvPr/>
        </p:nvSpPr>
        <p:spPr>
          <a:xfrm>
            <a:off x="5806440" y="2697480"/>
            <a:ext cx="640080" cy="640080"/>
          </a:xfrm>
          <a:prstGeom prst="ellipse">
            <a:avLst/>
          </a:prstGeom>
          <a:solidFill>
            <a:schemeClr val="bg2"/>
          </a:solidFill>
          <a:ln w="25400">
            <a:solidFill>
              <a:srgbClr val="D5DB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0644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MVP 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30952" y="3931920"/>
            <a:ext cx="15910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Chatbot de recomendaciones</a:t>
            </a:r>
            <a:endParaRPr lang="en-US" sz="1300" dirty="0"/>
          </a:p>
        </p:txBody>
      </p:sp>
      <p:sp>
        <p:nvSpPr>
          <p:cNvPr id="20" name="MVP 5 dot"/>
          <p:cNvSpPr/>
          <p:nvPr/>
        </p:nvSpPr>
        <p:spPr>
          <a:xfrm>
            <a:off x="7406640" y="2697480"/>
            <a:ext cx="640080" cy="640080"/>
          </a:xfrm>
          <a:prstGeom prst="ellipse">
            <a:avLst/>
          </a:prstGeom>
          <a:solidFill>
            <a:schemeClr val="bg2"/>
          </a:solidFill>
          <a:ln w="25400">
            <a:solidFill>
              <a:srgbClr val="D5DB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0664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MVP 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931152" y="3931920"/>
            <a:ext cx="15910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Integración avanzada con WhatsApp</a:t>
            </a:r>
            <a:endParaRPr lang="en-US" sz="1300" dirty="0"/>
          </a:p>
        </p:txBody>
      </p:sp>
      <p:sp>
        <p:nvSpPr>
          <p:cNvPr id="24" name="MVP 6 dot"/>
          <p:cNvSpPr/>
          <p:nvPr/>
        </p:nvSpPr>
        <p:spPr>
          <a:xfrm>
            <a:off x="9006840" y="2697480"/>
            <a:ext cx="640080" cy="640080"/>
          </a:xfrm>
          <a:prstGeom prst="ellipse">
            <a:avLst/>
          </a:prstGeom>
          <a:solidFill>
            <a:schemeClr val="bg2"/>
          </a:solidFill>
          <a:ln w="25400">
            <a:solidFill>
              <a:srgbClr val="D5DB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00684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549640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MVP 6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531352" y="3931920"/>
            <a:ext cx="15910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Gestión avanzada de operación</a:t>
            </a:r>
            <a:endParaRPr lang="en-US" sz="1300" dirty="0"/>
          </a:p>
        </p:txBody>
      </p:sp>
      <p:sp>
        <p:nvSpPr>
          <p:cNvPr id="28" name="MVP 7 dot"/>
          <p:cNvSpPr/>
          <p:nvPr/>
        </p:nvSpPr>
        <p:spPr>
          <a:xfrm>
            <a:off x="10607040" y="2697480"/>
            <a:ext cx="640080" cy="640080"/>
          </a:xfrm>
          <a:prstGeom prst="ellipse">
            <a:avLst/>
          </a:prstGeom>
          <a:solidFill>
            <a:schemeClr val="bg2"/>
          </a:solidFill>
          <a:ln w="25400">
            <a:solidFill>
              <a:srgbClr val="D5DB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60704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7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10149840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MVP 7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0131552" y="3931920"/>
            <a:ext cx="15910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Analítica y operación avanzada</a:t>
            </a:r>
            <a:endParaRPr lang="en-US" sz="1300" dirty="0"/>
          </a:p>
        </p:txBody>
      </p:sp>
      <p:sp>
        <p:nvSpPr>
          <p:cNvPr id="32" name="Current scope note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22960" y="52578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Esta presentación cubre el MVP 1. Las funciones de los demás MVPs no se adelantan: el MVP 1 debe ser la base sobre la que se construyan.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Alcance del MVP 1: cuatro áreas funcionales</a:t>
            </a:r>
            <a:endParaRPr lang="en-US" sz="3600" dirty="0"/>
          </a:p>
        </p:txBody>
      </p:sp>
      <p:sp>
        <p:nvSpPr>
          <p:cNvPr id="3" name="Catálogo card"/>
          <p:cNvSpPr/>
          <p:nvPr/>
        </p:nvSpPr>
        <p:spPr>
          <a:xfrm>
            <a:off x="548640" y="1463040"/>
            <a:ext cx="2542032" cy="3566160"/>
          </a:xfrm>
          <a:prstGeom prst="roundRect">
            <a:avLst>
              <a:gd name="adj" fmla="val 2878"/>
            </a:avLst>
          </a:prstGeom>
          <a:solidFill>
            <a:schemeClr val="bg2"/>
          </a:solidFill>
          <a:ln/>
        </p:spPr>
      </p:sp>
      <p:sp>
        <p:nvSpPr>
          <p:cNvPr id="4" name="Catálogo circle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Catálogo icon" descr="Catá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202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06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06324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Categorías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Unidades de medida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Productos (SKU, marca, precio…)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Activar / desactivar</a:t>
            </a:r>
            <a:endParaRPr lang="en-US" sz="1400" dirty="0"/>
          </a:p>
        </p:txBody>
      </p:sp>
      <p:sp>
        <p:nvSpPr>
          <p:cNvPr id="8" name="Inventario card"/>
          <p:cNvSpPr/>
          <p:nvPr/>
        </p:nvSpPr>
        <p:spPr>
          <a:xfrm>
            <a:off x="3364992" y="1463040"/>
            <a:ext cx="2542032" cy="3566160"/>
          </a:xfrm>
          <a:prstGeom prst="roundRect">
            <a:avLst>
              <a:gd name="adj" fmla="val 2878"/>
            </a:avLst>
          </a:prstGeom>
          <a:solidFill>
            <a:schemeClr val="bg2"/>
          </a:solidFill>
          <a:ln/>
        </p:spPr>
      </p:sp>
      <p:sp>
        <p:nvSpPr>
          <p:cNvPr id="9" name="Inventario circle"/>
          <p:cNvSpPr/>
          <p:nvPr/>
        </p:nvSpPr>
        <p:spPr>
          <a:xfrm>
            <a:off x="3639312" y="173736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nventario icon" descr="Inventar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192" y="19202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39312" y="2606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639312" y="306324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Existencia actual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Entradas, salidas y ajustes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Historial de movimientos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Usuario responsable y motivo</a:t>
            </a:r>
            <a:endParaRPr lang="en-US" sz="1400" dirty="0"/>
          </a:p>
        </p:txBody>
      </p:sp>
      <p:sp>
        <p:nvSpPr>
          <p:cNvPr id="13" name="Accesos card"/>
          <p:cNvSpPr/>
          <p:nvPr/>
        </p:nvSpPr>
        <p:spPr>
          <a:xfrm>
            <a:off x="6181344" y="1463040"/>
            <a:ext cx="2542032" cy="3566160"/>
          </a:xfrm>
          <a:prstGeom prst="roundRect">
            <a:avLst>
              <a:gd name="adj" fmla="val 2878"/>
            </a:avLst>
          </a:prstGeom>
          <a:solidFill>
            <a:schemeClr val="bg2"/>
          </a:solidFill>
          <a:ln/>
        </p:spPr>
      </p:sp>
      <p:sp>
        <p:nvSpPr>
          <p:cNvPr id="14" name="Accesos circle"/>
          <p:cNvSpPr/>
          <p:nvPr/>
        </p:nvSpPr>
        <p:spPr>
          <a:xfrm>
            <a:off x="6455664" y="173736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Accesos icon" descr="Acceso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4" y="19202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55664" y="2606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455664" y="306324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Usuarios con varios roles (N:M)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Roles y permisos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Catálogo inicial ADMIN / VIEWER</a:t>
            </a:r>
            <a:endParaRPr lang="en-US" sz="1400" dirty="0"/>
          </a:p>
        </p:txBody>
      </p:sp>
      <p:sp>
        <p:nvSpPr>
          <p:cNvPr id="18" name="Autenticación card"/>
          <p:cNvSpPr/>
          <p:nvPr/>
        </p:nvSpPr>
        <p:spPr>
          <a:xfrm>
            <a:off x="8997696" y="1463040"/>
            <a:ext cx="2542032" cy="3566160"/>
          </a:xfrm>
          <a:prstGeom prst="roundRect">
            <a:avLst>
              <a:gd name="adj" fmla="val 2878"/>
            </a:avLst>
          </a:prstGeom>
          <a:solidFill>
            <a:schemeClr val="bg2"/>
          </a:solidFill>
          <a:ln/>
        </p:spPr>
      </p:sp>
      <p:sp>
        <p:nvSpPr>
          <p:cNvPr id="19" name="Autenticación circle"/>
          <p:cNvSpPr/>
          <p:nvPr/>
        </p:nvSpPr>
        <p:spPr>
          <a:xfrm>
            <a:off x="9272016" y="173736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Autenticación icon" descr="Autenticació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4896" y="192024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272016" y="2606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9272016" y="306324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Token JWT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Autorización por permiso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Alta de credenciales por consola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2120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4000" dirty="0"/>
          </a:p>
        </p:txBody>
      </p:sp>
      <p:sp>
        <p:nvSpPr>
          <p:cNvPr id="24" name="Text 18"/>
          <p:cNvSpPr txBox="1"/>
          <p:nvPr/>
        </p:nvSpPr>
        <p:spPr>
          <a:xfrm>
            <a:off x="1600200" y="52120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operaciones REST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3364992" y="52120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4000" dirty="0"/>
          </a:p>
        </p:txBody>
      </p:sp>
      <p:sp>
        <p:nvSpPr>
          <p:cNvPr id="26" name="Text 20"/>
          <p:cNvSpPr txBox="1"/>
          <p:nvPr/>
        </p:nvSpPr>
        <p:spPr>
          <a:xfrm>
            <a:off x="4416552" y="52120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casos de uso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6181344" y="52120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4000" dirty="0"/>
          </a:p>
        </p:txBody>
      </p:sp>
      <p:sp>
        <p:nvSpPr>
          <p:cNvPr id="28" name="Text 22"/>
          <p:cNvSpPr txBox="1"/>
          <p:nvPr/>
        </p:nvSpPr>
        <p:spPr>
          <a:xfrm>
            <a:off x="7232904" y="52120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modelos de dominio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8997696" y="52120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000" dirty="0"/>
          </a:p>
        </p:txBody>
      </p:sp>
      <p:sp>
        <p:nvSpPr>
          <p:cNvPr id="30" name="Text 24"/>
          <p:cNvSpPr txBox="1"/>
          <p:nvPr/>
        </p:nvSpPr>
        <p:spPr>
          <a:xfrm>
            <a:off x="10049256" y="52120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controladores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Stack tecnológico</a:t>
            </a:r>
            <a:endParaRPr lang="en-US" sz="3600" dirty="0"/>
          </a:p>
        </p:txBody>
      </p:sp>
      <p:sp>
        <p:nvSpPr>
          <p:cNvPr id="3" name="Lenguaje y build card"/>
          <p:cNvSpPr/>
          <p:nvPr/>
        </p:nvSpPr>
        <p:spPr>
          <a:xfrm>
            <a:off x="548640" y="146304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Lenguaje y build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Java 21 (LTS)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Maven 3.9 multimódulo</a:t>
            </a:r>
            <a:endParaRPr lang="en-US" sz="1500" dirty="0"/>
          </a:p>
        </p:txBody>
      </p:sp>
      <p:sp>
        <p:nvSpPr>
          <p:cNvPr id="6" name="Framework card"/>
          <p:cNvSpPr/>
          <p:nvPr/>
        </p:nvSpPr>
        <p:spPr>
          <a:xfrm>
            <a:off x="4279392" y="146304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53712" y="1691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53712" y="21945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Spring Boot 3.5.16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Spring Security 6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Bean Validation</a:t>
            </a:r>
            <a:endParaRPr lang="en-US" sz="1500" dirty="0"/>
          </a:p>
        </p:txBody>
      </p:sp>
      <p:sp>
        <p:nvSpPr>
          <p:cNvPr id="9" name="Datos card"/>
          <p:cNvSpPr/>
          <p:nvPr/>
        </p:nvSpPr>
        <p:spPr>
          <a:xfrm>
            <a:off x="8010144" y="146304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84464" y="1691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84464" y="21945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Spring Data JPA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MySQL 8.4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DataSource JNDI en WebLogic</a:t>
            </a:r>
            <a:endParaRPr lang="en-US" sz="1500" dirty="0"/>
          </a:p>
        </p:txBody>
      </p:sp>
      <p:sp>
        <p:nvSpPr>
          <p:cNvPr id="12" name="API card"/>
          <p:cNvSpPr/>
          <p:nvPr/>
        </p:nvSpPr>
        <p:spPr>
          <a:xfrm>
            <a:off x="548640" y="384048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069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5720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REST + JSON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OpenAPI / Swagger (springdoc)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Colección Postman</a:t>
            </a:r>
            <a:endParaRPr lang="en-US" sz="1500" dirty="0"/>
          </a:p>
        </p:txBody>
      </p:sp>
      <p:sp>
        <p:nvSpPr>
          <p:cNvPr id="15" name="Calidad card"/>
          <p:cNvSpPr/>
          <p:nvPr/>
        </p:nvSpPr>
        <p:spPr>
          <a:xfrm>
            <a:off x="4279392" y="384048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53712" y="4069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553712" y="45720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JUnit 5 · ArchUnit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JaCoCo · SonarQube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OWASP Dependency-Check</a:t>
            </a:r>
            <a:endParaRPr lang="en-US" sz="1500" dirty="0"/>
          </a:p>
        </p:txBody>
      </p:sp>
      <p:sp>
        <p:nvSpPr>
          <p:cNvPr id="18" name="Entrega card"/>
          <p:cNvSpPr/>
          <p:nvPr/>
        </p:nvSpPr>
        <p:spPr>
          <a:xfrm>
            <a:off x="8010144" y="3840480"/>
            <a:ext cx="35204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84464" y="4069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284464" y="45720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Jenkins (CI/CD)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Docker (Jenkins, Sonar, MySQL)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WAR en WebLogic 15.1.1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Clean Architecture en tres módulos Maven</a:t>
            </a:r>
            <a:endParaRPr lang="en-US" sz="3600" dirty="0"/>
          </a:p>
        </p:txBody>
      </p:sp>
      <p:sp>
        <p:nvSpPr>
          <p:cNvPr id="3" name="infrastructure layer"/>
          <p:cNvSpPr/>
          <p:nvPr/>
        </p:nvSpPr>
        <p:spPr>
          <a:xfrm>
            <a:off x="548640" y="1463040"/>
            <a:ext cx="3383280" cy="4023360"/>
          </a:xfrm>
          <a:prstGeom prst="roundRect">
            <a:avLst>
              <a:gd name="adj" fmla="val 2162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Adaptadores y detalles técnicos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2880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Controladores REST y DTO HTTP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Persistencia JPA y mapeadores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Seguridad JWT y matriz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Configuración y comando CLI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Empaquetado WAR</a:t>
            </a:r>
            <a:endParaRPr lang="en-US" sz="1500" dirty="0"/>
          </a:p>
        </p:txBody>
      </p:sp>
      <p:pic>
        <p:nvPicPr>
          <p:cNvPr id="7" name="Arrow 0" descr="depends 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1648" y="3291840"/>
            <a:ext cx="347472" cy="347472"/>
          </a:xfrm>
          <a:prstGeom prst="rect">
            <a:avLst/>
          </a:prstGeom>
        </p:spPr>
      </p:pic>
      <p:sp>
        <p:nvSpPr>
          <p:cNvPr id="8" name="application layer"/>
          <p:cNvSpPr/>
          <p:nvPr/>
        </p:nvSpPr>
        <p:spPr>
          <a:xfrm>
            <a:off x="4434840" y="1463040"/>
            <a:ext cx="3383280" cy="4023360"/>
          </a:xfrm>
          <a:prstGeom prst="roundRect">
            <a:avLst>
              <a:gd name="adj" fmla="val 2162"/>
            </a:avLst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709160" y="1691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4709160" y="2148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Casos de uso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709160" y="2697480"/>
            <a:ext cx="2880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Puertos de entrada y salida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Servicios de caso de uso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DTO y excepciones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@Transactional como frontera</a:t>
            </a:r>
            <a:endParaRPr lang="en-US" sz="1500" dirty="0"/>
          </a:p>
        </p:txBody>
      </p:sp>
      <p:pic>
        <p:nvPicPr>
          <p:cNvPr id="12" name="Arrow 1" descr="depends 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7848" y="3291840"/>
            <a:ext cx="347472" cy="347472"/>
          </a:xfrm>
          <a:prstGeom prst="rect">
            <a:avLst/>
          </a:prstGeom>
        </p:spPr>
      </p:pic>
      <p:sp>
        <p:nvSpPr>
          <p:cNvPr id="13" name="domain layer"/>
          <p:cNvSpPr/>
          <p:nvPr/>
        </p:nvSpPr>
        <p:spPr>
          <a:xfrm>
            <a:off x="8321040" y="1463040"/>
            <a:ext cx="3383280" cy="4023360"/>
          </a:xfrm>
          <a:prstGeom prst="roundRect">
            <a:avLst>
              <a:gd name="adj" fmla="val 2162"/>
            </a:avLst>
          </a:prstGeom>
          <a:solidFill>
            <a:schemeClr val="accent1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595360" y="1691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8595360" y="2148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Modelo y reglas de negocio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8595360" y="2697480"/>
            <a:ext cx="2880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Category, Product, UnitOfMeasure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Inventory, InventoryMovement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User, Role, Permission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Sin Spring ni JPA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Las dependencias apuntan hacia el dominio. Cuatro reglas ArchUnit lo verifican en cada «mvn test» (ADR-0001, ADR-0006).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Recorrido de una solicitud</a:t>
            </a:r>
            <a:endParaRPr lang="en-US" sz="3600" dirty="0"/>
          </a:p>
        </p:txBody>
      </p:sp>
      <p:sp>
        <p:nvSpPr>
          <p:cNvPr id="3" name="Cliente step"/>
          <p:cNvSpPr/>
          <p:nvPr/>
        </p:nvSpPr>
        <p:spPr>
          <a:xfrm>
            <a:off x="548640" y="1828800"/>
            <a:ext cx="164592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82880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Cliente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33832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HTTP + JWT en Authorization: Bearer</a:t>
            </a:r>
            <a:endParaRPr lang="en-US" sz="1400" dirty="0"/>
          </a:p>
        </p:txBody>
      </p:sp>
      <p:pic>
        <p:nvPicPr>
          <p:cNvPr id="6" name="Flow arrow 0" descr="n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1992" y="2377440"/>
            <a:ext cx="228600" cy="228600"/>
          </a:xfrm>
          <a:prstGeom prst="rect">
            <a:avLst/>
          </a:prstGeom>
        </p:spPr>
      </p:pic>
      <p:sp>
        <p:nvSpPr>
          <p:cNvPr id="7" name="Filtros de seguridad step"/>
          <p:cNvSpPr/>
          <p:nvPr/>
        </p:nvSpPr>
        <p:spPr>
          <a:xfrm>
            <a:off x="2468880" y="1828800"/>
            <a:ext cx="1645920" cy="1371600"/>
          </a:xfrm>
          <a:prstGeom prst="roundRect">
            <a:avLst>
              <a:gd name="adj" fmla="val 5333"/>
            </a:avLst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560320" y="182880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Filtros de seguridad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2514600" y="33832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Valida token, estado del usuario y permiso</a:t>
            </a:r>
            <a:endParaRPr lang="en-US" sz="1400" dirty="0"/>
          </a:p>
        </p:txBody>
      </p:sp>
      <p:pic>
        <p:nvPicPr>
          <p:cNvPr id="10" name="Flow arrow 1" descr="nex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232" y="2377440"/>
            <a:ext cx="228600" cy="228600"/>
          </a:xfrm>
          <a:prstGeom prst="rect">
            <a:avLst/>
          </a:prstGeom>
        </p:spPr>
      </p:pic>
      <p:sp>
        <p:nvSpPr>
          <p:cNvPr id="11" name="Controlador REST step"/>
          <p:cNvSpPr/>
          <p:nvPr/>
        </p:nvSpPr>
        <p:spPr>
          <a:xfrm>
            <a:off x="4389120" y="1828800"/>
            <a:ext cx="1645920" cy="1371600"/>
          </a:xfrm>
          <a:prstGeom prst="roundRect">
            <a:avLst>
              <a:gd name="adj" fmla="val 5333"/>
            </a:avLst>
          </a:prstGeom>
          <a:solidFill>
            <a:schemeClr val="accent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480560" y="182880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Controlador REST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434840" y="33832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Valida entrada y llama al puerto de entrada</a:t>
            </a:r>
            <a:endParaRPr lang="en-US" sz="1400" dirty="0"/>
          </a:p>
        </p:txBody>
      </p:sp>
      <p:pic>
        <p:nvPicPr>
          <p:cNvPr id="14" name="Flow arrow 2" descr="nex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472" y="2377440"/>
            <a:ext cx="228600" cy="228600"/>
          </a:xfrm>
          <a:prstGeom prst="rect">
            <a:avLst/>
          </a:prstGeom>
        </p:spPr>
      </p:pic>
      <p:sp>
        <p:nvSpPr>
          <p:cNvPr id="15" name="Caso de uso step"/>
          <p:cNvSpPr/>
          <p:nvPr/>
        </p:nvSpPr>
        <p:spPr>
          <a:xfrm>
            <a:off x="6309360" y="1828800"/>
            <a:ext cx="1645920" cy="137160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6400800" y="182880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Caso de uso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355080" y="33832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Aplica reglas en una transacción</a:t>
            </a:r>
            <a:endParaRPr lang="en-US" sz="1400" dirty="0"/>
          </a:p>
        </p:txBody>
      </p:sp>
      <p:pic>
        <p:nvPicPr>
          <p:cNvPr id="18" name="Flow arrow 3" descr="nex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2712" y="2377440"/>
            <a:ext cx="228600" cy="228600"/>
          </a:xfrm>
          <a:prstGeom prst="rect">
            <a:avLst/>
          </a:prstGeom>
        </p:spPr>
      </p:pic>
      <p:sp>
        <p:nvSpPr>
          <p:cNvPr id="19" name="Adaptador JPA step"/>
          <p:cNvSpPr/>
          <p:nvPr/>
        </p:nvSpPr>
        <p:spPr>
          <a:xfrm>
            <a:off x="8229600" y="1828800"/>
            <a:ext cx="1645920" cy="1371600"/>
          </a:xfrm>
          <a:prstGeom prst="roundRect">
            <a:avLst>
              <a:gd name="adj" fmla="val 5333"/>
            </a:avLst>
          </a:prstGeom>
          <a:solidFill>
            <a:schemeClr val="accent2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8321040" y="182880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Adaptador JPA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8275320" y="33832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Implementa el puerto de salida</a:t>
            </a:r>
            <a:endParaRPr lang="en-US" sz="1400" dirty="0"/>
          </a:p>
        </p:txBody>
      </p:sp>
      <p:pic>
        <p:nvPicPr>
          <p:cNvPr id="22" name="Flow arrow 4" descr="nex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2952" y="2377440"/>
            <a:ext cx="228600" cy="228600"/>
          </a:xfrm>
          <a:prstGeom prst="rect">
            <a:avLst/>
          </a:prstGeom>
        </p:spPr>
      </p:pic>
      <p:sp>
        <p:nvSpPr>
          <p:cNvPr id="23" name="MySQL step"/>
          <p:cNvSpPr/>
          <p:nvPr/>
        </p:nvSpPr>
        <p:spPr>
          <a:xfrm>
            <a:off x="10149840" y="1828800"/>
            <a:ext cx="164592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10241280" y="182880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MySQL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10195560" y="33832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Persiste o consulta datos</a:t>
            </a:r>
            <a:endParaRPr lang="en-US" sz="1400" dirty="0"/>
          </a:p>
        </p:txBody>
      </p:sp>
      <p:sp>
        <p:nvSpPr>
          <p:cNvPr id="26" name="Errors note"/>
          <p:cNvSpPr/>
          <p:nvPr/>
        </p:nvSpPr>
        <p:spPr>
          <a:xfrm>
            <a:off x="548640" y="4754880"/>
            <a:ext cx="110642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822960" y="47548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Errores homogéneos: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toda respuesta de error usa ProblemDetail (RFC 9457, application/problem+json): 400 validación, 401 sin token, 403 sin permiso, 404 no existe, 409 conflicto de negocio.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Modelo de dominio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e inventario</a:t>
            </a:r>
            <a:endParaRPr lang="en-US" sz="1800" dirty="0"/>
          </a:p>
        </p:txBody>
      </p:sp>
      <p:sp>
        <p:nvSpPr>
          <p:cNvPr id="4" name="Category entity"/>
          <p:cNvSpPr/>
          <p:nvPr/>
        </p:nvSpPr>
        <p:spPr>
          <a:xfrm>
            <a:off x="548640" y="2011680"/>
            <a:ext cx="219456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Category</a:t>
            </a:r>
            <a:endParaRPr lang="en-US" sz="1600" dirty="0"/>
          </a:p>
        </p:txBody>
      </p:sp>
      <p:sp>
        <p:nvSpPr>
          <p:cNvPr id="6" name="UnitOfMeasure entity"/>
          <p:cNvSpPr/>
          <p:nvPr/>
        </p:nvSpPr>
        <p:spPr>
          <a:xfrm>
            <a:off x="3383280" y="2011680"/>
            <a:ext cx="219456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383280" y="20116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UnitOfMeasure</a:t>
            </a:r>
            <a:endParaRPr lang="en-US" sz="1600" dirty="0"/>
          </a:p>
        </p:txBody>
      </p:sp>
      <p:sp>
        <p:nvSpPr>
          <p:cNvPr id="8" name="Product entity"/>
          <p:cNvSpPr/>
          <p:nvPr/>
        </p:nvSpPr>
        <p:spPr>
          <a:xfrm>
            <a:off x="1965960" y="3291840"/>
            <a:ext cx="219456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965960" y="3291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Product</a:t>
            </a:r>
            <a:endParaRPr lang="en-US" sz="1600" dirty="0"/>
          </a:p>
        </p:txBody>
      </p:sp>
      <p:sp>
        <p:nvSpPr>
          <p:cNvPr id="10" name="Inventory entity"/>
          <p:cNvSpPr/>
          <p:nvPr/>
        </p:nvSpPr>
        <p:spPr>
          <a:xfrm>
            <a:off x="548640" y="4572000"/>
            <a:ext cx="2194560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5720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Inventory</a:t>
            </a:r>
            <a:endParaRPr lang="en-US" sz="1600" dirty="0"/>
          </a:p>
        </p:txBody>
      </p:sp>
      <p:sp>
        <p:nvSpPr>
          <p:cNvPr id="12" name="InventoryMovement entity"/>
          <p:cNvSpPr/>
          <p:nvPr/>
        </p:nvSpPr>
        <p:spPr>
          <a:xfrm>
            <a:off x="3383280" y="4572000"/>
            <a:ext cx="2194560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383280" y="45720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InventoryMovement</a:t>
            </a:r>
            <a:endParaRPr lang="en-US" sz="1600" dirty="0"/>
          </a:p>
        </p:txBody>
      </p:sp>
      <p:sp>
        <p:nvSpPr>
          <p:cNvPr id="14" name="Relation "/>
          <p:cNvSpPr/>
          <p:nvPr/>
        </p:nvSpPr>
        <p:spPr>
          <a:xfrm>
            <a:off x="1645920" y="2697480"/>
            <a:ext cx="1097280" cy="594360"/>
          </a:xfrm>
          <a:prstGeom prst="line">
            <a:avLst/>
          </a:prstGeom>
          <a:noFill/>
          <a:ln w="19050">
            <a:solidFill>
              <a:srgbClr val="5B6876"/>
            </a:solidFill>
            <a:prstDash val="solid"/>
          </a:ln>
        </p:spPr>
      </p:sp>
      <p:sp>
        <p:nvSpPr>
          <p:cNvPr id="15" name="Relation "/>
          <p:cNvSpPr/>
          <p:nvPr/>
        </p:nvSpPr>
        <p:spPr>
          <a:xfrm>
            <a:off x="4480560" y="2697480"/>
            <a:ext cx="-914400" cy="594360"/>
          </a:xfrm>
          <a:prstGeom prst="line">
            <a:avLst/>
          </a:prstGeom>
          <a:noFill/>
          <a:ln w="19050">
            <a:solidFill>
              <a:srgbClr val="5B6876"/>
            </a:solidFill>
            <a:prstDash val="solid"/>
          </a:ln>
        </p:spPr>
      </p:sp>
      <p:sp>
        <p:nvSpPr>
          <p:cNvPr id="16" name="Relation "/>
          <p:cNvSpPr/>
          <p:nvPr/>
        </p:nvSpPr>
        <p:spPr>
          <a:xfrm>
            <a:off x="2743200" y="3977640"/>
            <a:ext cx="-1097280" cy="594360"/>
          </a:xfrm>
          <a:prstGeom prst="line">
            <a:avLst/>
          </a:prstGeom>
          <a:noFill/>
          <a:ln w="19050">
            <a:solidFill>
              <a:srgbClr val="5B6876"/>
            </a:solidFill>
            <a:prstDash val="solid"/>
          </a:ln>
        </p:spPr>
      </p:sp>
      <p:sp>
        <p:nvSpPr>
          <p:cNvPr id="17" name="Relation "/>
          <p:cNvSpPr/>
          <p:nvPr/>
        </p:nvSpPr>
        <p:spPr>
          <a:xfrm>
            <a:off x="3566160" y="3977640"/>
            <a:ext cx="914400" cy="594360"/>
          </a:xfrm>
          <a:prstGeom prst="line">
            <a:avLst/>
          </a:prstGeom>
          <a:noFill/>
          <a:ln w="19050">
            <a:solidFill>
              <a:srgbClr val="5B687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97280" y="4069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1 : 1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206240" y="4069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1 : 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 y accesos</a:t>
            </a:r>
            <a:endParaRPr lang="en-US" sz="1800" dirty="0"/>
          </a:p>
        </p:txBody>
      </p:sp>
      <p:sp>
        <p:nvSpPr>
          <p:cNvPr id="21" name="User entity"/>
          <p:cNvSpPr/>
          <p:nvPr/>
        </p:nvSpPr>
        <p:spPr>
          <a:xfrm>
            <a:off x="6675120" y="2011680"/>
            <a:ext cx="146304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75120" y="20116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User</a:t>
            </a:r>
            <a:endParaRPr lang="en-US" sz="1600" dirty="0"/>
          </a:p>
        </p:txBody>
      </p:sp>
      <p:sp>
        <p:nvSpPr>
          <p:cNvPr id="23" name="Role entity"/>
          <p:cNvSpPr/>
          <p:nvPr/>
        </p:nvSpPr>
        <p:spPr>
          <a:xfrm>
            <a:off x="8412480" y="2011680"/>
            <a:ext cx="146304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412480" y="20116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Role</a:t>
            </a:r>
            <a:endParaRPr lang="en-US" sz="1600" dirty="0"/>
          </a:p>
        </p:txBody>
      </p:sp>
      <p:sp>
        <p:nvSpPr>
          <p:cNvPr id="25" name="Permission entity"/>
          <p:cNvSpPr/>
          <p:nvPr/>
        </p:nvSpPr>
        <p:spPr>
          <a:xfrm>
            <a:off x="10149840" y="2011680"/>
            <a:ext cx="146304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149840" y="20116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Permission</a:t>
            </a:r>
            <a:endParaRPr lang="en-US" sz="1600" dirty="0"/>
          </a:p>
        </p:txBody>
      </p:sp>
      <p:sp>
        <p:nvSpPr>
          <p:cNvPr id="27" name="Relation "/>
          <p:cNvSpPr/>
          <p:nvPr/>
        </p:nvSpPr>
        <p:spPr>
          <a:xfrm>
            <a:off x="8138160" y="2354580"/>
            <a:ext cx="274320" cy="0"/>
          </a:xfrm>
          <a:prstGeom prst="line">
            <a:avLst/>
          </a:prstGeom>
          <a:noFill/>
          <a:ln w="19050">
            <a:solidFill>
              <a:srgbClr val="5B6876"/>
            </a:solidFill>
            <a:prstDash val="solid"/>
          </a:ln>
        </p:spPr>
      </p:sp>
      <p:sp>
        <p:nvSpPr>
          <p:cNvPr id="28" name="Relation "/>
          <p:cNvSpPr/>
          <p:nvPr/>
        </p:nvSpPr>
        <p:spPr>
          <a:xfrm>
            <a:off x="9875520" y="2354580"/>
            <a:ext cx="274320" cy="0"/>
          </a:xfrm>
          <a:prstGeom prst="line">
            <a:avLst/>
          </a:prstGeom>
          <a:noFill/>
          <a:ln w="19050">
            <a:solidFill>
              <a:srgbClr val="5B687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90956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N : M          N : M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675120" y="338328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Producto: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SKU único, nombre, descripción, marca, referencia, precio, categoría, unidad de medida y estado.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Movimiento: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tipo (ENTRY, EXIT, ADJUSTMENT), cantidad, motivo, usuario responsable y fecha.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Usuario: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username único, nombre visible y estado. La contraseña vive aparte, en una credencial con hash.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Reglas de negocio implementadas</a:t>
            </a:r>
            <a:endParaRPr lang="en-US" sz="3600" dirty="0"/>
          </a:p>
        </p:txBody>
      </p:sp>
      <p:sp>
        <p:nvSpPr>
          <p:cNvPr id="3" name="Sin existencias negativas rule"/>
          <p:cNvSpPr/>
          <p:nvPr/>
        </p:nvSpPr>
        <p:spPr>
          <a:xfrm>
            <a:off x="548640" y="1463040"/>
            <a:ext cx="54406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pic>
        <p:nvPicPr>
          <p:cNvPr id="4" name="Sin existencias negativas icon" descr="ru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6642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Sin existencias negativas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205740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Una salida o ajuste que deje stock negativo se rechaza con 409.</a:t>
            </a:r>
            <a:endParaRPr lang="en-US" sz="1400" dirty="0"/>
          </a:p>
        </p:txBody>
      </p:sp>
      <p:sp>
        <p:nvSpPr>
          <p:cNvPr id="7" name="Solo productos activos rule"/>
          <p:cNvSpPr/>
          <p:nvPr/>
        </p:nvSpPr>
        <p:spPr>
          <a:xfrm>
            <a:off x="6172200" y="1463040"/>
            <a:ext cx="54406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pic>
        <p:nvPicPr>
          <p:cNvPr id="8" name="Solo productos activos icon" descr="ru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7373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086600" y="16642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Solo productos activos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7086600" y="205740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Un producto inactivo no admite movimientos de inventario.</a:t>
            </a:r>
            <a:endParaRPr lang="en-US" sz="1400" dirty="0"/>
          </a:p>
        </p:txBody>
      </p:sp>
      <p:sp>
        <p:nvSpPr>
          <p:cNvPr id="11" name="Trazabilidad completa rule"/>
          <p:cNvSpPr/>
          <p:nvPr/>
        </p:nvSpPr>
        <p:spPr>
          <a:xfrm>
            <a:off x="548640" y="2971800"/>
            <a:ext cx="54406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pic>
        <p:nvPicPr>
          <p:cNvPr id="12" name="Trazabilidad completa icon" descr="ru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4612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63040" y="31729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Trazabilidad completa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1463040" y="356616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Cada movimiento guarda producto, tipo, cantidad, motivo, responsable y fecha.</a:t>
            </a:r>
            <a:endParaRPr lang="en-US" sz="1400" dirty="0"/>
          </a:p>
        </p:txBody>
      </p:sp>
      <p:sp>
        <p:nvSpPr>
          <p:cNvPr id="15" name="Concurrencia segura rule"/>
          <p:cNvSpPr/>
          <p:nvPr/>
        </p:nvSpPr>
        <p:spPr>
          <a:xfrm>
            <a:off x="6172200" y="2971800"/>
            <a:ext cx="54406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pic>
        <p:nvPicPr>
          <p:cNvPr id="16" name="Concurrencia segura icon" descr="ru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24612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086600" y="31729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Concurrencia segura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7086600" y="356616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Bloqueo optimista (@Version) sobre la existencia al registrar movimientos.</a:t>
            </a:r>
            <a:endParaRPr lang="en-US" sz="1400" dirty="0"/>
          </a:p>
        </p:txBody>
      </p:sp>
      <p:sp>
        <p:nvSpPr>
          <p:cNvPr id="19" name="Unicidad rule"/>
          <p:cNvSpPr/>
          <p:nvPr/>
        </p:nvSpPr>
        <p:spPr>
          <a:xfrm>
            <a:off x="548640" y="4480560"/>
            <a:ext cx="54406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pic>
        <p:nvPicPr>
          <p:cNvPr id="20" name="Unicidad icon" descr="ru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754880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463040" y="46817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Unicidad</a:t>
            </a:r>
            <a:endParaRPr lang="en-US" sz="1700" dirty="0"/>
          </a:p>
        </p:txBody>
      </p:sp>
      <p:sp>
        <p:nvSpPr>
          <p:cNvPr id="22" name="Text 15"/>
          <p:cNvSpPr txBox="1"/>
          <p:nvPr/>
        </p:nvSpPr>
        <p:spPr>
          <a:xfrm>
            <a:off x="1463040" y="507492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SKU, nombre de categoría, código de unidad, username y claves de rol/permiso.</a:t>
            </a:r>
            <a:endParaRPr lang="en-US" sz="1400" dirty="0"/>
          </a:p>
        </p:txBody>
      </p:sp>
      <p:sp>
        <p:nvSpPr>
          <p:cNvPr id="23" name="Activación lógica rule"/>
          <p:cNvSpPr/>
          <p:nvPr/>
        </p:nvSpPr>
        <p:spPr>
          <a:xfrm>
            <a:off x="6172200" y="4480560"/>
            <a:ext cx="54406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pic>
        <p:nvPicPr>
          <p:cNvPr id="24" name="Activación lógica icon" descr="ru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4754880"/>
            <a:ext cx="411480" cy="41148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086600" y="46817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Activación lógica</a:t>
            </a:r>
            <a:endParaRPr lang="en-US" sz="1700" dirty="0"/>
          </a:p>
        </p:txBody>
      </p:sp>
      <p:sp>
        <p:nvSpPr>
          <p:cNvPr id="26" name="Text 18"/>
          <p:cNvSpPr txBox="1"/>
          <p:nvPr/>
        </p:nvSpPr>
        <p:spPr>
          <a:xfrm>
            <a:off x="7086600" y="507492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Categorías, unidades, productos y usuarios se activan o desactivan; no se borran.</a:t>
            </a:r>
            <a:endParaRPr lang="en-US" sz="1400" dirty="0"/>
          </a:p>
        </p:txBody>
      </p:sp>
      <p:sp>
        <p:nvSpPr>
          <p:cNvPr id="27" name="Text 19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Las entradas se validan con Bean Validation antes de llegar a los casos de uso; las entidades JPA nunca se exponen en la API.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Seguridad: autenticación y autorización</a:t>
            </a:r>
            <a:endParaRPr lang="en-US" sz="3600" dirty="0"/>
          </a:p>
        </p:txBody>
      </p:sp>
      <p:sp>
        <p:nvSpPr>
          <p:cNvPr id="3" name="JWT HS256 circle"/>
          <p:cNvSpPr/>
          <p:nvPr/>
        </p:nvSpPr>
        <p:spPr>
          <a:xfrm>
            <a:off x="548640" y="14630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JWT HS256 icon" descr="JWT HS25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657350"/>
            <a:ext cx="388620" cy="3886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5087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JWT HS256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96596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Emitido por POST /api/auth/token. Clave externa JWT_SECRET (≥ 256 bits).</a:t>
            </a:r>
            <a:endParaRPr lang="en-US" sz="1400" dirty="0"/>
          </a:p>
        </p:txBody>
      </p:sp>
      <p:sp>
        <p:nvSpPr>
          <p:cNvPr id="7" name="15 minutos circle"/>
          <p:cNvSpPr/>
          <p:nvPr/>
        </p:nvSpPr>
        <p:spPr>
          <a:xfrm>
            <a:off x="4279392" y="14630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15 minutos icon" descr="15 minut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3702" y="1657350"/>
            <a:ext cx="388620" cy="3886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239512" y="15087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15 minutos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5239512" y="196596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Sin refresh token: al expirar se vuelve a autenticar.</a:t>
            </a:r>
            <a:endParaRPr lang="en-US" sz="1400" dirty="0"/>
          </a:p>
        </p:txBody>
      </p:sp>
      <p:sp>
        <p:nvSpPr>
          <p:cNvPr id="11" name="Argon2id circle"/>
          <p:cNvSpPr/>
          <p:nvPr/>
        </p:nvSpPr>
        <p:spPr>
          <a:xfrm>
            <a:off x="8010144" y="14630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Argon2id icon" descr="Argon2i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4454" y="1657350"/>
            <a:ext cx="388620" cy="3886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970264" y="15087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Argon2id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8970264" y="196596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Solo se guarda el hash; la credencial está separada del usuario.</a:t>
            </a:r>
            <a:endParaRPr lang="en-US" sz="1400" dirty="0"/>
          </a:p>
        </p:txBody>
      </p:sp>
      <p:sp>
        <p:nvSpPr>
          <p:cNvPr id="15" name="Denegación por defecto circle"/>
          <p:cNvSpPr/>
          <p:nvPr/>
        </p:nvSpPr>
        <p:spPr>
          <a:xfrm>
            <a:off x="548640" y="370332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Denegación por defecto icon" descr="Denegación por defect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3897630"/>
            <a:ext cx="388620" cy="3886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08760" y="37490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Denegación por defecto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1508760" y="420624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Matriz de 38 operaciones; lo que no está en la matriz se rechaza.</a:t>
            </a:r>
            <a:endParaRPr lang="en-US" sz="1400" dirty="0"/>
          </a:p>
        </p:txBody>
      </p:sp>
      <p:sp>
        <p:nvSpPr>
          <p:cNvPr id="19" name="Permisos vigentes circle"/>
          <p:cNvSpPr/>
          <p:nvPr/>
        </p:nvSpPr>
        <p:spPr>
          <a:xfrm>
            <a:off x="4279392" y="370332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Permisos vigentes icon" descr="Permisos vigent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3702" y="3897630"/>
            <a:ext cx="388620" cy="3886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239512" y="37490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Permisos vigentes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5239512" y="420624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Estado y permisos se consultan en cada solicitud.</a:t>
            </a:r>
            <a:endParaRPr lang="en-US" sz="1400" dirty="0"/>
          </a:p>
        </p:txBody>
      </p:sp>
      <p:sp>
        <p:nvSpPr>
          <p:cNvPr id="23" name="Credenciales por consola circle"/>
          <p:cNvSpPr/>
          <p:nvPr/>
        </p:nvSpPr>
        <p:spPr>
          <a:xfrm>
            <a:off x="8010144" y="370332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Credenciales por consola icon" descr="Credenciales por consol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4454" y="3897630"/>
            <a:ext cx="388620" cy="38862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8970264" y="37490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Credenciales por consola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8970264" y="420624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create-first-admin y provision-credential, sin servidor web.</a:t>
            </a:r>
            <a:endParaRPr lang="en-US" sz="1400" dirty="0"/>
          </a:p>
        </p:txBody>
      </p:sp>
      <p:sp>
        <p:nvSpPr>
          <p:cNvPr id="27" name="Stateless note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/>
        </p:spPr>
      </p:sp>
      <p:sp>
        <p:nvSpPr>
          <p:cNvPr id="28" name="Text 20"/>
          <p:cNvSpPr txBox="1"/>
          <p:nvPr/>
        </p:nvSpPr>
        <p:spPr>
          <a:xfrm>
            <a:off x="777240" y="57150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API sin estado: sin sesiones, cookies, Basic ni formularios; por eso CSRF está deshabilitado de forma justificada. CORS sigue deshabilitado.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Roles y matriz endpoint–permiso</a:t>
            </a:r>
            <a:endParaRPr lang="en-US" sz="3600" dirty="0"/>
          </a:p>
        </p:txBody>
      </p:sp>
      <p:graphicFrame>
        <p:nvGraphicFramePr>
          <p:cNvPr id="13" name="Permission matrix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840480"/>
                <a:gridCol w="914400"/>
                <a:gridCol w="91440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Permiso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Operaciones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ADMIN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VIEWER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CATALOG_READ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GET categorías, unidades y productos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CATALOG_WRITE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POST, PUT y activar/desactivar del catálogo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INVENTORY_READ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GET existencia y movimientos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INVENTORY_MOVE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POST entradas y salidas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INVENTORY_ADJUST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POST ajustes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USER_READ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GET usuarios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USER_WRITE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POST, PUT y activar/desactivar usuarios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ACCESS_READ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GET roles y permisos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ACCESS_WRITE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POST y PUT de roles y permisos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Public routes card"/>
          <p:cNvSpPr/>
          <p:nvPr/>
        </p:nvSpPr>
        <p:spPr>
          <a:xfrm>
            <a:off x="8778240" y="1371600"/>
            <a:ext cx="2834640" cy="393192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9006840" y="1554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Fuera de la matriz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9006840" y="2011680"/>
            <a:ext cx="2468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Pública: POST /api/auth/token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Swagger/OpenAPI públicos solo con GET en local, dev y qa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Cualquier otra ruta o método: denegada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440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Rol INVENTORY_OPERATOR: pendiente de definición del negocio.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Calidad: pruebas automatizadas y análisis estático</a:t>
            </a:r>
            <a:endParaRPr lang="en-US" sz="3600" dirty="0"/>
          </a:p>
        </p:txBody>
      </p:sp>
      <p:graphicFrame>
        <p:nvGraphicFramePr>
          <p:cNvPr id="3" name="Tests per module chart" descr=""/>
          <p:cNvGraphicFramePr/>
          <p:nvPr/>
        </p:nvGraphicFramePr>
        <p:xfrm>
          <a:off x="548640" y="1371600"/>
          <a:ext cx="51206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126480" y="14630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468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1463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pruebas, 0 fallos ni errores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2651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93,9 %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6517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cobertura de líneas (línea base del 7 de octubre)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3840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8503920" y="3840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reglas ArchUnit de arquitectura</a:t>
            </a:r>
            <a:endParaRPr lang="en-US" sz="1500" dirty="0"/>
          </a:p>
        </p:txBody>
      </p:sp>
      <p:sp>
        <p:nvSpPr>
          <p:cNvPr id="10" name="Quality tools note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" y="52578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JaCoCo mide cobertura por módulo y agregada · SonarQube Community analiza cada build · OWASP Dependency-Check revisa vulnerabilidades en dependencias · pruebas de integración de seguridad con H2.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Pipeline CI/CD con Jenkins</a:t>
            </a:r>
            <a:endParaRPr lang="en-US" sz="3600" dirty="0"/>
          </a:p>
        </p:txBody>
      </p:sp>
      <p:sp>
        <p:nvSpPr>
          <p:cNvPr id="3" name="Checkout stage"/>
          <p:cNvSpPr/>
          <p:nvPr/>
        </p:nvSpPr>
        <p:spPr>
          <a:xfrm>
            <a:off x="548640" y="1463040"/>
            <a:ext cx="141732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46304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Checkout</a:t>
            </a:r>
            <a:endParaRPr lang="en-US" sz="1400" dirty="0"/>
          </a:p>
        </p:txBody>
      </p:sp>
      <p:pic>
        <p:nvPicPr>
          <p:cNvPr id="5" name="Stage arrow 0" descr="n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248" y="1847088"/>
            <a:ext cx="146304" cy="182880"/>
          </a:xfrm>
          <a:prstGeom prst="rect">
            <a:avLst/>
          </a:prstGeom>
        </p:spPr>
      </p:pic>
      <p:sp>
        <p:nvSpPr>
          <p:cNvPr id="6" name="Compile stage"/>
          <p:cNvSpPr/>
          <p:nvPr/>
        </p:nvSpPr>
        <p:spPr>
          <a:xfrm>
            <a:off x="2148840" y="1463040"/>
            <a:ext cx="141732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194560" y="146304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Compile</a:t>
            </a:r>
            <a:endParaRPr lang="en-US" sz="1400" dirty="0"/>
          </a:p>
        </p:txBody>
      </p:sp>
      <p:pic>
        <p:nvPicPr>
          <p:cNvPr id="8" name="Stage arrow 1" descr="nex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1847088"/>
            <a:ext cx="146304" cy="182880"/>
          </a:xfrm>
          <a:prstGeom prst="rect">
            <a:avLst/>
          </a:prstGeom>
        </p:spPr>
      </p:pic>
      <p:sp>
        <p:nvSpPr>
          <p:cNvPr id="9" name="Tests stage"/>
          <p:cNvSpPr/>
          <p:nvPr/>
        </p:nvSpPr>
        <p:spPr>
          <a:xfrm>
            <a:off x="3749040" y="1463040"/>
            <a:ext cx="141732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3794760" y="146304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Tests</a:t>
            </a:r>
            <a:endParaRPr lang="en-US" sz="1400" dirty="0"/>
          </a:p>
        </p:txBody>
      </p:sp>
      <p:pic>
        <p:nvPicPr>
          <p:cNvPr id="11" name="Stage arrow 2" descr="nex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648" y="1847088"/>
            <a:ext cx="146304" cy="182880"/>
          </a:xfrm>
          <a:prstGeom prst="rect">
            <a:avLst/>
          </a:prstGeom>
        </p:spPr>
      </p:pic>
      <p:sp>
        <p:nvSpPr>
          <p:cNvPr id="12" name="Package y cobertura stage"/>
          <p:cNvSpPr/>
          <p:nvPr/>
        </p:nvSpPr>
        <p:spPr>
          <a:xfrm>
            <a:off x="5349240" y="1463040"/>
            <a:ext cx="141732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5394960" y="146304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Package y cobertura</a:t>
            </a:r>
            <a:endParaRPr lang="en-US" sz="1400" dirty="0"/>
          </a:p>
        </p:txBody>
      </p:sp>
      <p:pic>
        <p:nvPicPr>
          <p:cNvPr id="14" name="Stage arrow 3" descr="nex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1847088"/>
            <a:ext cx="146304" cy="182880"/>
          </a:xfrm>
          <a:prstGeom prst="rect">
            <a:avLst/>
          </a:prstGeom>
        </p:spPr>
      </p:pic>
      <p:sp>
        <p:nvSpPr>
          <p:cNvPr id="15" name="SonarQube stage"/>
          <p:cNvSpPr/>
          <p:nvPr/>
        </p:nvSpPr>
        <p:spPr>
          <a:xfrm>
            <a:off x="6949440" y="1463040"/>
            <a:ext cx="1417320" cy="960120"/>
          </a:xfrm>
          <a:prstGeom prst="roundRect">
            <a:avLst>
              <a:gd name="adj" fmla="val 7619"/>
            </a:avLst>
          </a:prstGeom>
          <a:solidFill>
            <a:schemeClr val="accent2"/>
          </a:solidFill>
          <a:ln/>
        </p:spPr>
      </p:sp>
      <p:sp>
        <p:nvSpPr>
          <p:cNvPr id="16" name="Text 10"/>
          <p:cNvSpPr txBox="1"/>
          <p:nvPr/>
        </p:nvSpPr>
        <p:spPr>
          <a:xfrm>
            <a:off x="6995160" y="146304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SonarQube</a:t>
            </a:r>
            <a:endParaRPr lang="en-US" sz="1400" dirty="0"/>
          </a:p>
        </p:txBody>
      </p:sp>
      <p:pic>
        <p:nvPicPr>
          <p:cNvPr id="17" name="Stage arrow 4" descr="nex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1847088"/>
            <a:ext cx="146304" cy="182880"/>
          </a:xfrm>
          <a:prstGeom prst="rect">
            <a:avLst/>
          </a:prstGeom>
        </p:spPr>
      </p:pic>
      <p:sp>
        <p:nvSpPr>
          <p:cNvPr id="18" name="Quality Gate stage"/>
          <p:cNvSpPr/>
          <p:nvPr/>
        </p:nvSpPr>
        <p:spPr>
          <a:xfrm>
            <a:off x="8549640" y="1463040"/>
            <a:ext cx="1417320" cy="960120"/>
          </a:xfrm>
          <a:prstGeom prst="roundRect">
            <a:avLst>
              <a:gd name="adj" fmla="val 7619"/>
            </a:avLst>
          </a:prstGeom>
          <a:solidFill>
            <a:schemeClr val="accent2"/>
          </a:solidFill>
          <a:ln/>
        </p:spPr>
      </p:sp>
      <p:sp>
        <p:nvSpPr>
          <p:cNvPr id="19" name="Text 12"/>
          <p:cNvSpPr txBox="1"/>
          <p:nvPr/>
        </p:nvSpPr>
        <p:spPr>
          <a:xfrm>
            <a:off x="8595360" y="146304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Quality Gate</a:t>
            </a:r>
            <a:endParaRPr lang="en-US" sz="1400" dirty="0"/>
          </a:p>
        </p:txBody>
      </p:sp>
      <p:pic>
        <p:nvPicPr>
          <p:cNvPr id="20" name="Stage arrow 5" descr="nex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5248" y="1847088"/>
            <a:ext cx="146304" cy="182880"/>
          </a:xfrm>
          <a:prstGeom prst="rect">
            <a:avLst/>
          </a:prstGeom>
        </p:spPr>
      </p:pic>
      <p:sp>
        <p:nvSpPr>
          <p:cNvPr id="21" name="Deploy WebLogic stage"/>
          <p:cNvSpPr/>
          <p:nvPr/>
        </p:nvSpPr>
        <p:spPr>
          <a:xfrm>
            <a:off x="10149840" y="1463040"/>
            <a:ext cx="1417320" cy="960120"/>
          </a:xfrm>
          <a:prstGeom prst="roundRect">
            <a:avLst>
              <a:gd name="adj" fmla="val 7619"/>
            </a:avLst>
          </a:prstGeom>
          <a:solidFill>
            <a:schemeClr val="accent1"/>
          </a:solidFill>
          <a:ln/>
        </p:spPr>
      </p:sp>
      <p:sp>
        <p:nvSpPr>
          <p:cNvPr id="22" name="Text 14"/>
          <p:cNvSpPr txBox="1"/>
          <p:nvPr/>
        </p:nvSpPr>
        <p:spPr>
          <a:xfrm>
            <a:off x="10195560" y="1463040"/>
            <a:ext cx="1325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Deploy WebLogic</a:t>
            </a:r>
            <a:endParaRPr lang="en-US" sz="1400" dirty="0"/>
          </a:p>
        </p:txBody>
      </p:sp>
      <p:sp>
        <p:nvSpPr>
          <p:cNvPr id="23" name="Host box"/>
          <p:cNvSpPr/>
          <p:nvPr/>
        </p:nvSpPr>
        <p:spPr>
          <a:xfrm>
            <a:off x="548640" y="2834640"/>
            <a:ext cx="667512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24" name="Text 16"/>
          <p:cNvSpPr txBox="1"/>
          <p:nvPr/>
        </p:nvSpPr>
        <p:spPr>
          <a:xfrm>
            <a:off x="777240" y="29718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Anfitrión Ubuntu · Docker</a:t>
            </a:r>
            <a:endParaRPr lang="en-US" sz="1600" dirty="0"/>
          </a:p>
        </p:txBody>
      </p:sp>
      <p:sp>
        <p:nvSpPr>
          <p:cNvPr id="25" name="Jenkins LTS JDK 21 circle"/>
          <p:cNvSpPr/>
          <p:nvPr/>
        </p:nvSpPr>
        <p:spPr>
          <a:xfrm>
            <a:off x="1325880" y="35204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6" name="Jenkins LTS JDK 21 icon" descr="Jenkins LTS JDK 21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08760" y="3703320"/>
            <a:ext cx="365760" cy="36576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77240" y="4389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Jenkins LTS JDK 21</a:t>
            </a:r>
            <a:endParaRPr lang="en-US" sz="1400" dirty="0"/>
          </a:p>
        </p:txBody>
      </p:sp>
      <p:sp>
        <p:nvSpPr>
          <p:cNvPr id="28" name="Text 19"/>
          <p:cNvSpPr txBox="1"/>
          <p:nvPr/>
        </p:nvSpPr>
        <p:spPr>
          <a:xfrm>
            <a:off x="777240" y="4983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:8080</a:t>
            </a:r>
            <a:endParaRPr lang="en-US" sz="1300" dirty="0"/>
          </a:p>
        </p:txBody>
      </p:sp>
      <p:sp>
        <p:nvSpPr>
          <p:cNvPr id="29" name="SonarQube 26.9 circle"/>
          <p:cNvSpPr/>
          <p:nvPr/>
        </p:nvSpPr>
        <p:spPr>
          <a:xfrm>
            <a:off x="3474720" y="35204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0" name="SonarQube 26.9 icon" descr="SonarQube 26.9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0" y="3703320"/>
            <a:ext cx="365760" cy="36576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2926080" y="4389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SonarQube 26.9</a:t>
            </a:r>
            <a:endParaRPr lang="en-US" sz="1400" dirty="0"/>
          </a:p>
        </p:txBody>
      </p:sp>
      <p:sp>
        <p:nvSpPr>
          <p:cNvPr id="32" name="Text 22"/>
          <p:cNvSpPr txBox="1"/>
          <p:nvPr/>
        </p:nvSpPr>
        <p:spPr>
          <a:xfrm>
            <a:off x="2926080" y="4983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:9000</a:t>
            </a:r>
            <a:endParaRPr lang="en-US" sz="1300" dirty="0"/>
          </a:p>
        </p:txBody>
      </p:sp>
      <p:sp>
        <p:nvSpPr>
          <p:cNvPr id="33" name="MySQL 8.4 circle"/>
          <p:cNvSpPr/>
          <p:nvPr/>
        </p:nvSpPr>
        <p:spPr>
          <a:xfrm>
            <a:off x="5623560" y="35204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4" name="MySQL 8.4 icon" descr="MySQL 8.4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06440" y="3703320"/>
            <a:ext cx="365760" cy="365760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5074920" y="4389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MySQL 8.4</a:t>
            </a:r>
            <a:endParaRPr lang="en-US" sz="1400" dirty="0"/>
          </a:p>
        </p:txBody>
      </p:sp>
      <p:sp>
        <p:nvSpPr>
          <p:cNvPr id="36" name="Text 25"/>
          <p:cNvSpPr txBox="1"/>
          <p:nvPr/>
        </p:nvSpPr>
        <p:spPr>
          <a:xfrm>
            <a:off x="5074920" y="4983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:3307</a:t>
            </a:r>
            <a:endParaRPr lang="en-US" sz="1300" dirty="0"/>
          </a:p>
        </p:txBody>
      </p:sp>
      <p:sp>
        <p:nvSpPr>
          <p:cNvPr id="37" name="Text 26"/>
          <p:cNvSpPr txBox="1"/>
          <p:nvPr/>
        </p:nvSpPr>
        <p:spPr>
          <a:xfrm>
            <a:off x="777240" y="54406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Repositorio GitHub · rama develop · Poll SCM cada ~5 min</a:t>
            </a:r>
            <a:endParaRPr lang="en-US" sz="1300" dirty="0"/>
          </a:p>
        </p:txBody>
      </p:sp>
      <p:sp>
        <p:nvSpPr>
          <p:cNvPr id="38" name="VM box"/>
          <p:cNvSpPr/>
          <p:nvPr/>
        </p:nvSpPr>
        <p:spPr>
          <a:xfrm>
            <a:off x="7589520" y="2834640"/>
            <a:ext cx="4023360" cy="3200400"/>
          </a:xfrm>
          <a:prstGeom prst="roundRect">
            <a:avLst>
              <a:gd name="adj" fmla="val 2286"/>
            </a:avLst>
          </a:prstGeom>
          <a:solidFill>
            <a:schemeClr val="tx2"/>
          </a:solidFill>
          <a:ln/>
        </p:spPr>
      </p:sp>
      <p:sp>
        <p:nvSpPr>
          <p:cNvPr id="39" name="Text 28"/>
          <p:cNvSpPr txBox="1"/>
          <p:nvPr/>
        </p:nvSpPr>
        <p:spPr>
          <a:xfrm>
            <a:off x="7818120" y="2971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VM Red Hat 9.8</a:t>
            </a:r>
            <a:endParaRPr lang="en-US" sz="1600" dirty="0"/>
          </a:p>
        </p:txBody>
      </p:sp>
      <p:sp>
        <p:nvSpPr>
          <p:cNvPr id="40" name="WebLogic circle"/>
          <p:cNvSpPr/>
          <p:nvPr/>
        </p:nvSpPr>
        <p:spPr>
          <a:xfrm>
            <a:off x="7818120" y="35204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1" name="WebLogic icon" descr="WebLogic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0" y="3703320"/>
            <a:ext cx="365760" cy="365760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8732520" y="35204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WebLogic 15.1.1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AdminServer :7001</a:t>
            </a:r>
            <a:endParaRPr lang="en-US" sz="1400" dirty="0"/>
          </a:p>
        </p:txBody>
      </p:sp>
      <p:sp>
        <p:nvSpPr>
          <p:cNvPr id="43" name="Text 31"/>
          <p:cNvSpPr txBox="1"/>
          <p:nvPr/>
        </p:nvSpPr>
        <p:spPr>
          <a:xfrm>
            <a:off x="7818120" y="44348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accent6"/>
                </a:solidFill>
              </a:rPr>
              <a:t>WAR desplegado por SSH/SCP + WLST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accent6"/>
                </a:solidFill>
              </a:rPr>
              <a:t>Contexto /infrastructure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accent6"/>
                </a:solidFill>
              </a:rPr>
              <a:t>DataSource JNDI jdbc/solgases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Documentación y demostración</a:t>
            </a:r>
            <a:endParaRPr lang="en-US" sz="3600" dirty="0"/>
          </a:p>
        </p:txBody>
      </p:sp>
      <p:sp>
        <p:nvSpPr>
          <p:cNvPr id="3" name="Docs circle"/>
          <p:cNvSpPr/>
          <p:nvPr/>
        </p:nvSpPr>
        <p:spPr>
          <a:xfrm>
            <a:off x="548640" y="146304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Docs icon" descr="Doc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657350"/>
            <a:ext cx="388620" cy="3886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600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Lo que se entrega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468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Swagger UI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2194560" y="24688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/infrastructure/swagger-ui/index.html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154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OpenAPI JSON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2194560" y="31546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/infrastructure/v3/api-docs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840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Postman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2194560" y="38404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docs/postman: colección v2.1 y entorno por perfil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5262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ADR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2194560" y="45262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 decisiones de arquitectura en docs/adr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212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Guías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194560" y="52120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architecture, DevOps, inicio rápido, MVP 1</a:t>
            </a:r>
            <a:endParaRPr lang="en-US" sz="1400" dirty="0"/>
          </a:p>
        </p:txBody>
      </p:sp>
      <p:sp>
        <p:nvSpPr>
          <p:cNvPr id="16" name="Demo card"/>
          <p:cNvSpPr/>
          <p:nvPr/>
        </p:nvSpPr>
        <p:spPr>
          <a:xfrm>
            <a:off x="6217920" y="1463040"/>
            <a:ext cx="5394960" cy="4572000"/>
          </a:xfrm>
          <a:prstGeom prst="roundRect">
            <a:avLst>
              <a:gd name="adj" fmla="val 1600"/>
            </a:avLst>
          </a:prstGeom>
          <a:solidFill>
            <a:schemeClr val="tx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9224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Guion de demo sugerido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6492240" y="228600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1.  POST /api/auth/token con el administrador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2.  Crear categoría y unidad de medida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3.  Crear producto (POST /api/products)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4.  Registrar entrada de inventario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5.  Intentar una salida mayor al stock → 409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6.  Consultar el historial de movimientos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7.  Llamar sin token → 401 · con VIEWER → 403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Desarrollo incremental asistido por IA</a:t>
            </a:r>
            <a:endParaRPr lang="en-US" sz="3600" dirty="0"/>
          </a:p>
        </p:txBody>
      </p:sp>
      <p:sp>
        <p:nvSpPr>
          <p:cNvPr id="3" name="Increment 0"/>
          <p:cNvSpPr/>
          <p:nvPr/>
        </p:nvSpPr>
        <p:spPr>
          <a:xfrm>
            <a:off x="868680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574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Análisis</a:t>
            </a:r>
            <a:endParaRPr lang="en-US" sz="1300" dirty="0"/>
          </a:p>
        </p:txBody>
      </p:sp>
      <p:sp>
        <p:nvSpPr>
          <p:cNvPr id="6" name="Increment 1"/>
          <p:cNvSpPr/>
          <p:nvPr/>
        </p:nvSpPr>
        <p:spPr>
          <a:xfrm>
            <a:off x="2112264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112264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792224" y="20574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Bootstrap</a:t>
            </a:r>
            <a:endParaRPr lang="en-US" sz="1300" dirty="0"/>
          </a:p>
        </p:txBody>
      </p:sp>
      <p:sp>
        <p:nvSpPr>
          <p:cNvPr id="9" name="Increment 2"/>
          <p:cNvSpPr/>
          <p:nvPr/>
        </p:nvSpPr>
        <p:spPr>
          <a:xfrm>
            <a:off x="3355848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55848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035808" y="20574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Category</a:t>
            </a:r>
            <a:endParaRPr lang="en-US" sz="1300" dirty="0"/>
          </a:p>
        </p:txBody>
      </p:sp>
      <p:sp>
        <p:nvSpPr>
          <p:cNvPr id="12" name="Increment 3"/>
          <p:cNvSpPr/>
          <p:nvPr/>
        </p:nvSpPr>
        <p:spPr>
          <a:xfrm>
            <a:off x="4599432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99432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279392" y="20574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Product</a:t>
            </a:r>
            <a:endParaRPr lang="en-US" sz="1300" dirty="0"/>
          </a:p>
        </p:txBody>
      </p:sp>
      <p:sp>
        <p:nvSpPr>
          <p:cNvPr id="15" name="Increment 4"/>
          <p:cNvSpPr/>
          <p:nvPr/>
        </p:nvSpPr>
        <p:spPr>
          <a:xfrm>
            <a:off x="5843016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843016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522976" y="20574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Inventory</a:t>
            </a:r>
            <a:endParaRPr lang="en-US" sz="1300" dirty="0"/>
          </a:p>
        </p:txBody>
      </p:sp>
      <p:sp>
        <p:nvSpPr>
          <p:cNvPr id="18" name="Increment 5"/>
          <p:cNvSpPr/>
          <p:nvPr/>
        </p:nvSpPr>
        <p:spPr>
          <a:xfrm>
            <a:off x="7086600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0866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20574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Users / Roles</a:t>
            </a:r>
            <a:endParaRPr lang="en-US" sz="1300" dirty="0"/>
          </a:p>
        </p:txBody>
      </p:sp>
      <p:sp>
        <p:nvSpPr>
          <p:cNvPr id="21" name="Increment 6"/>
          <p:cNvSpPr/>
          <p:nvPr/>
        </p:nvSpPr>
        <p:spPr>
          <a:xfrm>
            <a:off x="8330184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330184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010144" y="20574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Testing y calidad</a:t>
            </a:r>
            <a:endParaRPr lang="en-US" sz="1300" dirty="0"/>
          </a:p>
        </p:txBody>
      </p:sp>
      <p:sp>
        <p:nvSpPr>
          <p:cNvPr id="24" name="Increment 7"/>
          <p:cNvSpPr/>
          <p:nvPr/>
        </p:nvSpPr>
        <p:spPr>
          <a:xfrm>
            <a:off x="9573768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573768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253728" y="20574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Seguridad</a:t>
            </a:r>
            <a:endParaRPr lang="en-US" sz="1300" dirty="0"/>
          </a:p>
        </p:txBody>
      </p:sp>
      <p:sp>
        <p:nvSpPr>
          <p:cNvPr id="27" name="Increment 8"/>
          <p:cNvSpPr/>
          <p:nvPr/>
        </p:nvSpPr>
        <p:spPr>
          <a:xfrm>
            <a:off x="10817352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817352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0497312" y="20574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DevOps</a:t>
            </a:r>
            <a:endParaRPr lang="en-US" sz="1300" dirty="0"/>
          </a:p>
        </p:txBody>
      </p:sp>
      <p:sp>
        <p:nvSpPr>
          <p:cNvPr id="30" name="Claude Code implementa card"/>
          <p:cNvSpPr/>
          <p:nvPr/>
        </p:nvSpPr>
        <p:spPr>
          <a:xfrm>
            <a:off x="548640" y="3108960"/>
            <a:ext cx="352044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31" name="Claude Code implementa circle"/>
          <p:cNvSpPr/>
          <p:nvPr/>
        </p:nvSpPr>
        <p:spPr>
          <a:xfrm>
            <a:off x="822960" y="33375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2" name="Claude Code implementa icon" descr="Claude Code implemen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520440"/>
            <a:ext cx="365760" cy="365760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822960" y="4206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Claude Code implementa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46634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Sigue CLAUDE.md y docs/lineamientos.md; implementa solo el incremento aprobado.</a:t>
            </a:r>
            <a:endParaRPr lang="en-US" sz="1400" dirty="0"/>
          </a:p>
        </p:txBody>
      </p:sp>
      <p:sp>
        <p:nvSpPr>
          <p:cNvPr id="35" name="ChatGPT revisa card"/>
          <p:cNvSpPr/>
          <p:nvPr/>
        </p:nvSpPr>
        <p:spPr>
          <a:xfrm>
            <a:off x="4279392" y="3108960"/>
            <a:ext cx="352044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36" name="ChatGPT revisa circle"/>
          <p:cNvSpPr/>
          <p:nvPr/>
        </p:nvSpPr>
        <p:spPr>
          <a:xfrm>
            <a:off x="4553712" y="333756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7" name="ChatGPT revisa icon" descr="ChatGPT revis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3520440"/>
            <a:ext cx="365760" cy="365760"/>
          </a:xfrm>
          <a:prstGeom prst="rect">
            <a:avLst/>
          </a:prstGeom>
        </p:spPr>
      </p:pic>
      <p:sp>
        <p:nvSpPr>
          <p:cNvPr id="38" name="Text 34"/>
          <p:cNvSpPr txBox="1"/>
          <p:nvPr/>
        </p:nvSpPr>
        <p:spPr>
          <a:xfrm>
            <a:off x="4553712" y="4206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ChatGPT revisa</a:t>
            </a:r>
            <a:endParaRPr lang="en-US" sz="1800" dirty="0"/>
          </a:p>
        </p:txBody>
      </p:sp>
      <p:sp>
        <p:nvSpPr>
          <p:cNvPr id="39" name="Text 35"/>
          <p:cNvSpPr txBox="1"/>
          <p:nvPr/>
        </p:nvSpPr>
        <p:spPr>
          <a:xfrm>
            <a:off x="4553712" y="46634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Apoya la revisión de decisiones y el mantenimiento de la documentación.</a:t>
            </a:r>
            <a:endParaRPr lang="en-US" sz="1400" dirty="0"/>
          </a:p>
        </p:txBody>
      </p:sp>
      <p:sp>
        <p:nvSpPr>
          <p:cNvPr id="40" name="Checkpoints card"/>
          <p:cNvSpPr/>
          <p:nvPr/>
        </p:nvSpPr>
        <p:spPr>
          <a:xfrm>
            <a:off x="8010144" y="3108960"/>
            <a:ext cx="352044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41" name="Checkpoints circle"/>
          <p:cNvSpPr/>
          <p:nvPr/>
        </p:nvSpPr>
        <p:spPr>
          <a:xfrm>
            <a:off x="8284464" y="33375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2" name="Checkpoints icon" descr="Checkpoin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3520440"/>
            <a:ext cx="365760" cy="365760"/>
          </a:xfrm>
          <a:prstGeom prst="rect">
            <a:avLst/>
          </a:prstGeom>
        </p:spPr>
      </p:pic>
      <p:sp>
        <p:nvSpPr>
          <p:cNvPr id="43" name="Text 38"/>
          <p:cNvSpPr txBox="1"/>
          <p:nvPr/>
        </p:nvSpPr>
        <p:spPr>
          <a:xfrm>
            <a:off x="8284464" y="4206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Checkpoints</a:t>
            </a:r>
            <a:endParaRPr lang="en-US" sz="1800" dirty="0"/>
          </a:p>
        </p:txBody>
      </p:sp>
      <p:sp>
        <p:nvSpPr>
          <p:cNvPr id="44" name="Text 39"/>
          <p:cNvSpPr txBox="1"/>
          <p:nvPr/>
        </p:nvSpPr>
        <p:spPr>
          <a:xfrm>
            <a:off x="8284464" y="46634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Cada incremento cierra con código, validación, pruebas, documentación y revisión humana.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Decisiones pendientes y riesgos</a:t>
            </a:r>
            <a:endParaRPr lang="en-US" sz="3600" dirty="0"/>
          </a:p>
        </p:txBody>
      </p:sp>
      <p:sp>
        <p:nvSpPr>
          <p:cNvPr id="3" name="Java 21 vs. Java 25 item"/>
          <p:cNvSpPr/>
          <p:nvPr/>
        </p:nvSpPr>
        <p:spPr>
          <a:xfrm>
            <a:off x="548640" y="1463040"/>
            <a:ext cx="54406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pic>
        <p:nvPicPr>
          <p:cNvPr id="4" name="Java 21 vs. Java 25 icon" descr="pend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6642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Java 21 vs. Java 25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205740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El proyecto y WebLogic usan Java 21; la rúbrica menciona Java 25.</a:t>
            </a:r>
            <a:endParaRPr lang="en-US" sz="1400" dirty="0"/>
          </a:p>
        </p:txBody>
      </p:sp>
      <p:sp>
        <p:nvSpPr>
          <p:cNvPr id="7" name="Argon2id vs. BCrypt item"/>
          <p:cNvSpPr/>
          <p:nvPr/>
        </p:nvSpPr>
        <p:spPr>
          <a:xfrm>
            <a:off x="6172200" y="1463040"/>
            <a:ext cx="54406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pic>
        <p:nvPicPr>
          <p:cNvPr id="8" name="Argon2id vs. BCrypt icon" descr="pend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7373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086600" y="16642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Argon2id vs. BCrypt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7086600" y="205740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Implementado Argon2id; la rúbrica menciona BCrypt. Confirmar con el docente.</a:t>
            </a:r>
            <a:endParaRPr lang="en-US" sz="1400" dirty="0"/>
          </a:p>
        </p:txBody>
      </p:sp>
      <p:sp>
        <p:nvSpPr>
          <p:cNvPr id="11" name="Quality Gate no bloqueante item"/>
          <p:cNvSpPr/>
          <p:nvPr/>
        </p:nvSpPr>
        <p:spPr>
          <a:xfrm>
            <a:off x="548640" y="2971800"/>
            <a:ext cx="54406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pic>
        <p:nvPicPr>
          <p:cNvPr id="12" name="Quality Gate no bloqueante icon" descr="pend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4612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63040" y="31729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Quality Gate no bloqueante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1463040" y="356616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Un Quality Gate fallido marca UNSTABLE pero el despliegue continúa.</a:t>
            </a:r>
            <a:endParaRPr lang="en-US" sz="1400" dirty="0"/>
          </a:p>
        </p:txBody>
      </p:sp>
      <p:sp>
        <p:nvSpPr>
          <p:cNvPr id="15" name="Inventario negativo item"/>
          <p:cNvSpPr/>
          <p:nvPr/>
        </p:nvSpPr>
        <p:spPr>
          <a:xfrm>
            <a:off x="6172200" y="2971800"/>
            <a:ext cx="54406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pic>
        <p:nvPicPr>
          <p:cNvPr id="16" name="Inventario negativo icon" descr="pend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24612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086600" y="31729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Inventario negativo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7086600" y="356616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Implementado como rechazo; la política sigue por validar con el negocio.</a:t>
            </a:r>
            <a:endParaRPr lang="en-US" sz="1400" dirty="0"/>
          </a:p>
        </p:txBody>
      </p:sp>
      <p:sp>
        <p:nvSpPr>
          <p:cNvPr id="19" name="Pendientes de negocio item"/>
          <p:cNvSpPr/>
          <p:nvPr/>
        </p:nvSpPr>
        <p:spPr>
          <a:xfrm>
            <a:off x="548640" y="4480560"/>
            <a:ext cx="54406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pic>
        <p:nvPicPr>
          <p:cNvPr id="20" name="Pendientes de negocio icon" descr="pendi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754880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463040" y="46817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Pendientes de negocio</a:t>
            </a:r>
            <a:endParaRPr lang="en-US" sz="1700" dirty="0"/>
          </a:p>
        </p:txBody>
      </p:sp>
      <p:sp>
        <p:nvSpPr>
          <p:cNvPr id="22" name="Text 15"/>
          <p:cNvSpPr txBox="1"/>
          <p:nvPr/>
        </p:nvSpPr>
        <p:spPr>
          <a:xfrm>
            <a:off x="1463040" y="507492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Rol INVENTORY_OPERATOR, lotes, vencimientos, series y política de precios.</a:t>
            </a:r>
            <a:endParaRPr lang="en-US" sz="1400" dirty="0"/>
          </a:p>
        </p:txBody>
      </p:sp>
      <p:sp>
        <p:nvSpPr>
          <p:cNvPr id="23" name="Pendientes técnicos item"/>
          <p:cNvSpPr/>
          <p:nvPr/>
        </p:nvSpPr>
        <p:spPr>
          <a:xfrm>
            <a:off x="6172200" y="4480560"/>
            <a:ext cx="54406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pic>
        <p:nvPicPr>
          <p:cNvPr id="24" name="Pendientes técnicos icon" descr="pendi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4754880"/>
            <a:ext cx="411480" cy="41148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086600" y="46817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Pendientes técnicos</a:t>
            </a:r>
            <a:endParaRPr lang="en-US" sz="1700" dirty="0"/>
          </a:p>
        </p:txBody>
      </p:sp>
      <p:sp>
        <p:nvSpPr>
          <p:cNvPr id="26" name="Text 18"/>
          <p:cNvSpPr txBox="1"/>
          <p:nvPr/>
        </p:nvSpPr>
        <p:spPr>
          <a:xfrm>
            <a:off x="7086600" y="507492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Orígenes CORS, cambio de contraseña, migraciones de esquema y monitoreo.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Conclusiones y próximos pasos</a:t>
            </a:r>
            <a:endParaRPr lang="en-US" sz="3600" dirty="0"/>
          </a:p>
        </p:txBody>
      </p:sp>
      <p:pic>
        <p:nvPicPr>
          <p:cNvPr id="3" name="Conclusion 0" descr="d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73352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16002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Backend funcional de catálogo, inventario y accesos, con arquitectura limpia verificada automáticamente.</a:t>
            </a:r>
            <a:endParaRPr lang="en-US" sz="1800" dirty="0"/>
          </a:p>
        </p:txBody>
      </p:sp>
      <p:pic>
        <p:nvPicPr>
          <p:cNvPr id="5" name="Conclusion 1" descr="d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11480" cy="4114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371600" y="2560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Seguridad por defecto: JWT, Argon2id y matriz de permisos con denegación por defecto.</a:t>
            </a:r>
            <a:endParaRPr lang="en-US" sz="1800" dirty="0"/>
          </a:p>
        </p:txBody>
      </p:sp>
      <p:pic>
        <p:nvPicPr>
          <p:cNvPr id="7" name="Conclusion 2" descr="d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93592"/>
            <a:ext cx="411480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371600" y="35204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Entrega automatizada: Jenkins compila, prueba, analiza y despliega el WAR en WebLogic.</a:t>
            </a:r>
            <a:endParaRPr lang="en-US" sz="1800" dirty="0"/>
          </a:p>
        </p:txBody>
      </p:sp>
      <p:sp>
        <p:nvSpPr>
          <p:cNvPr id="9" name="Text 4"/>
          <p:cNvSpPr txBox="1"/>
          <p:nvPr/>
        </p:nvSpPr>
        <p:spPr>
          <a:xfrm>
            <a:off x="731520" y="4572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Próximos pasos</a:t>
            </a:r>
            <a:endParaRPr lang="en-US" sz="2000" dirty="0"/>
          </a:p>
        </p:txBody>
      </p:sp>
      <p:sp>
        <p:nvSpPr>
          <p:cNvPr id="10" name="Cerrar decisiones pendientes"/>
          <p:cNvSpPr/>
          <p:nvPr/>
        </p:nvSpPr>
        <p:spPr>
          <a:xfrm>
            <a:off x="731520" y="5120640"/>
            <a:ext cx="333756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914400" y="51206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Cerrar decisiones pendientes</a:t>
            </a:r>
            <a:endParaRPr lang="en-US" sz="1600" dirty="0"/>
          </a:p>
        </p:txBody>
      </p:sp>
      <p:sp>
        <p:nvSpPr>
          <p:cNvPr id="12" name="MVP 2: frontend administrativo"/>
          <p:cNvSpPr/>
          <p:nvPr/>
        </p:nvSpPr>
        <p:spPr>
          <a:xfrm>
            <a:off x="4343400" y="5120640"/>
            <a:ext cx="333756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4526280" y="51206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MVP 2: frontend administrativo</a:t>
            </a:r>
            <a:endParaRPr lang="en-US" sz="1600" dirty="0"/>
          </a:p>
        </p:txBody>
      </p:sp>
      <p:sp>
        <p:nvSpPr>
          <p:cNvPr id="14" name="MVP 3: catálogo público"/>
          <p:cNvSpPr/>
          <p:nvPr/>
        </p:nvSpPr>
        <p:spPr>
          <a:xfrm>
            <a:off x="7955280" y="5120640"/>
            <a:ext cx="333756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8138160" y="51206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MVP 3: catálogo público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lgases">
  <a:themeElements>
    <a:clrScheme name="Solgases">
      <a:dk1>
        <a:srgbClr val="26323F"/>
      </a:dk1>
      <a:lt1>
        <a:srgbClr val="FFFFFF"/>
      </a:lt1>
      <a:dk2>
        <a:srgbClr val="1B2631"/>
      </a:dk2>
      <a:lt2>
        <a:srgbClr val="F2F4F7"/>
      </a:lt2>
      <a:accent1>
        <a:srgbClr val="E4572E"/>
      </a:accent1>
      <a:accent2>
        <a:srgbClr val="2F6F8F"/>
      </a:accent2>
      <a:accent3>
        <a:srgbClr val="F0A202"/>
      </a:accent3>
      <a:accent4>
        <a:srgbClr val="3C8D5A"/>
      </a:accent4>
      <a:accent5>
        <a:srgbClr val="5B6876"/>
      </a:accent5>
      <a:accent6>
        <a:srgbClr val="D5DBE2"/>
      </a:accent6>
      <a:hlink>
        <a:srgbClr val="2F6F8F"/>
      </a:hlink>
      <a:folHlink>
        <a:srgbClr val="5B6876"/>
      </a:folHlink>
    </a:clrScheme>
    <a:fontScheme name="Solgase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SOLGASES APP - MVP 1</dc:title>
  <dc:subject>PptxGenJS Presentation</dc:subject>
  <dc:creator>Jairo Castañeda</dc:creator>
  <cp:lastModifiedBy>Jairo Castañeda</cp:lastModifiedBy>
  <cp:revision>1</cp:revision>
  <dcterms:created xsi:type="dcterms:W3CDTF">2026-10-24T13:43:42Z</dcterms:created>
  <dcterms:modified xsi:type="dcterms:W3CDTF">2026-10-24T13:43:42Z</dcterms:modified>
</cp:coreProperties>
</file>